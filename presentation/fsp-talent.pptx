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8" r:id="rId25"/>
    <p:sldId id="267" r:id="rId26"/>
    <p:sldId id="270" r:id="rId28"/>
    <p:sldId id="262" r:id="rId21"/>
    <p:sldId id="373" r:id="rId15"/>
    <p:sldId id="371" r:id="rId17"/>
    <p:sldId id="266" r:id="rId23"/>
    <p:sldId id="264" r:id="rId24"/>
    <p:sldId id="269" r:id="rId27"/>
    <p:sldId id="260" r:id="rId19"/>
    <p:sldId id="263" r:id="rId22"/>
    <p:sldId id="261" r:id="rId20"/>
    <p:sldId id="374" r:id="rId18"/>
    <p:sldId id="369" r:id="rId13"/>
    <p:sldId id="372" r:id="rId14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____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sz="1400" b="1">
                <a:solidFill>
                  <a:srgbClr val="FFFFFF"/>
                </a:solidFill>
              </a:rPr>
              <a:t>Подбор на 100 потребностях с эталоном, %</a:t>
            </a:r>
          </a:p>
        </c:rich>
      </c:tx>
      <c:layout/>
      <c:overlay val="0"/>
    </c:title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Наш подбор</c:v>
                </c:pt>
              </c:strCache>
            </c:strRef>
          </c:tx>
          <c:spPr>
            <a:solidFill>
              <a:srgbClr val="FF0053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precision@10</c:v>
                </c:pt>
                <c:pt idx="1">
                  <c:v>nDCG@10</c:v>
                </c:pt>
                <c:pt idx="2">
                  <c:v>recall@50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48.6</c:v>
                </c:pt>
                <c:pt idx="1">
                  <c:v>57.7</c:v>
                </c:pt>
                <c:pt idx="2">
                  <c:v>77.8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Поиск по словам резюме</c:v>
                </c:pt>
              </c:strCache>
            </c:strRef>
          </c:tx>
          <c:spPr>
            <a:solidFill>
              <a:srgbClr val="FFD6E4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precision@10</c:v>
                </c:pt>
                <c:pt idx="1">
                  <c:v>nDCG@10</c:v>
                </c:pt>
                <c:pt idx="2">
                  <c:v>recall@50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25.3</c:v>
                </c:pt>
                <c:pt idx="1">
                  <c:v>31.3</c:v>
                </c:pt>
                <c:pt idx="2">
                  <c:v>57.7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25.0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sz="1400" b="1">
                <a:solidFill>
                  <a:srgbClr val="1C1D22"/>
                </a:solidFill>
              </a:rPr>
              <a:t>Грейд завышен у «читеров», %</a:t>
            </a:r>
          </a:p>
        </c:rich>
      </c:tx>
      <c:layout/>
      <c:overlay val="0"/>
    </c:title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Грейд завышен у «читеров», %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E7E9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rgbClr val="520978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rgbClr val="8A83D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rgbClr val="FF005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Sheet1!$A$2:$A$5</c:f>
              <c:strCache>
                <c:ptCount val="4"/>
                <c:pt idx="0">
                  <c:v>Нет утечки (фон)</c:v>
                </c:pt>
                <c:pt idx="1">
                  <c:v>Утечка + свой вариант</c:v>
                </c:pt>
                <c:pt idx="2">
                  <c:v>Утечка + детектор</c:v>
                </c:pt>
                <c:pt idx="3">
                  <c:v>Утечка без защиты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10.0</c:v>
                </c:pt>
                <c:pt idx="1">
                  <c:v>14.0</c:v>
                </c:pt>
                <c:pt idx="2">
                  <c:v>38.0</c:v>
                </c:pt>
                <c:pt idx="3">
                  <c:v>85.0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1C1D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25.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Вес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rgbClr val="FF0053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rgbClr val="520978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rgbClr val="8A83D1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rgbClr val="FC3777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dPt>
            <c:idx val="4"/>
            <c:spPr>
              <a:solidFill>
                <a:srgbClr val="310F53"/>
              </a:solidFill>
            </c:spPr>
          </c:dPt>
          <c:dPt>
            <c:idx val="5"/>
            <c:spPr>
              <a:solidFill>
                <a:srgbClr val="B54CC9"/>
              </a:solidFill>
            </c:spPr>
          </c:dPt>
          <c:dLbls>
            <c:numFmt formatCode="0%" sourceLinked="0"/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Стек</c:v>
                </c:pt>
                <c:pt idx="1">
                  <c:v>Результат теста</c:v>
                </c:pt>
                <c:pt idx="2">
                  <c:v>Достижения ФСП</c:v>
                </c:pt>
                <c:pt idx="3">
                  <c:v>Свежесть профиля</c:v>
                </c:pt>
                <c:pt idx="4">
                  <c:v>Зарплата</c:v>
                </c:pt>
                <c:pt idx="5">
                  <c:v>Формат работы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</c:v>
                </c:pt>
                <c:pt idx="1">
                  <c:v>0.25</c:v>
                </c:pt>
                <c:pt idx="2">
                  <c:v>0.15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1D22"/>
              </a:solidFill>
            </a:defRPr>
          </a:pPr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Показать на стенде: /recruiter/needs/1 — категории слева, подборка с полосками вклада справа.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Название команды и состав — заполнить. Решение: платформа fsp-talent (ФСП Таланты).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Обратная механика по ТЗ: не кандидат ищет работу, а работодатель находит категорию и конкретного человека.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Категорию определяет только тест: самоописание в резюме на грейд не влияет.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Нейросеть только предлагает черновики шаблонов по тексту вакансии; оценку она не делает.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Веса по умолчанию: стек 0,30, тест 0,25, ФСП 0,15, свежесть, зарплата и формат по 0,10.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Организаторы не дали API ФСП — обе части (ФСП ID и реестр) подняты у нас по реальным протоколам.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Метрики теста — docs/testing/engine.md (seed 20261011). Подбор — черновой прогон трека валидации, сверить с docs/validation/report.md после слияния. Жюри может проверить свой CSV пар: POST /api/eval/matching.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Цифр рынка не приводим: модель монетизации — гипотеза для проверки на пилоте.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hyperlink" Target="https://159-194-200-243.sslip.io" TargetMode="External"/><Relationship Id="rId4" Type="http://schemas.openxmlformats.org/officeDocument/2006/relationships/hyperlink" Target="https://159-194-200-243.sslip.io/api/docs" TargetMode="External"/><Relationship Id="rId5" Type="http://schemas.openxmlformats.org/officeDocument/2006/relationships/hyperlink" Target="https://github.com/Vadik145-beep/fsp-talent" TargetMode="External"/><Relationship Id="rId6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3" Type="http://schemas.openxmlformats.org/officeDocument/2006/relationships/chart" Target="../charts/chart2.xml"/><Relationship Id="rId4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r>
              <a:t>[НАЗВАНИЕ КОМАНДЫ]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Спецтрек ФСП. 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4630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Категорию даёт тест, а не резюме: у каждого кандидата свой вариант задачи, сложность измерена по модели IRT, «слитые» задачи ловит детектор. Каждое место в подборке объяснено.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[ФИО капитана], [специальность]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[N]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[как образовалась команда]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[место работы / учёбы участников]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b="0" dirty="0">
                <a:solidFill>
                  <a:schemeClr val="tx1"/>
                </a:solidFill>
              </a:rPr>
              <a:t>[город, регион]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4315968" cy="1015128"/>
          </a:xfrm>
        </p:spPr>
        <p:txBody>
          <a:bodyPr/>
          <a:lstStyle/>
          <a:p>
            <a:r>
              <a:rPr>
                <a:solidFill>
                  <a:srgbClr val="520978"/>
                </a:solidFill>
              </a:rPr>
              <a:t>КОМАНДА «[НАЗВАНИЕ]»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6916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fsp-talent — платформа, где работодатель сам находит кандидата в категории «специализация × грейд», подтверждённой адаптивным тестом и достижениями ФСП, и приглашает его с зарплатной вилкой. Контакты открываются только после согласия кандидата.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[Работа / учёба]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[Работа / учёба]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[Работа / учёба]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[Работа / учёба]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УЧАСТНИКИ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[Роль в команде]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[Ник в мессенджере]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[Телефон]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[Работа / учёба]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[Имя Фамилия]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[Как собралась команда, участвовали ли вместе в хакатонах и проектах, интересные факты — заполнить команде]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b="1">
                <a:solidFill>
                  <a:schemeClr val="tx1"/>
                </a:solidFill>
              </a:rPr>
              <a:t>[Черновик — поправьте] </a:t>
            </a:r>
            <a:r>
              <a:rPr lang="ru-RU" dirty="0">
                <a:solidFill>
                  <a:schemeClr val="tx1"/>
                </a:solidFill>
              </a:rPr>
              <a:t>Малый банк убивает адаптивность → расширили до 192 параметрических шаблонов. Утечки заданий → свой вариант каждому и детектор «слишком верно и быстро».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Нет данных и API ФСП → синтетика с известной правдой и свой мок реестра. Объяснимость подбора → счёт из 6 факторов с разбивкой и причинами.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[Почему выбрали задачу ФСП и что зацепило в проблеме — заполнить команде]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Модульный монолит: FastAPI + PostgreSQL 16, React + TypeScript, всё в Docker Compose</a:t>
            </a:r>
          </a:p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Движок теста: модель IRT (2PL), адаптивный тест, 192 параметрических шаблона</a:t>
            </a:r>
          </a:p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Детектор утечек и калибровка сложности по ответам</a:t>
            </a:r>
          </a:p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Подбор: счёт из 6 факторов с объяснением, веса меняет админ</a:t>
            </a:r>
          </a:p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ФСП ID через Keycloak (OIDC + PKCE) и мок реестра с нашим контрактом API</a:t>
            </a:r>
          </a:p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Разбор PDF-резюме и текста потребности правилами, LLM необязателен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Работодатель получает подборку вместо сотен откликов и сам выходит на кандидата</a:t>
            </a:r>
          </a:p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Кандидат не рассылает резюме — его находят по подтверждённой категории, вилка видна сразу</a:t>
            </a:r>
          </a:p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ФСП: результаты соревнований превращаются в карьерное преимущество участника</a:t>
            </a:r>
          </a:p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Модель (гипотеза): кандидату бесплатно, работодатель платит за доступ к банку и приглашения</a:t>
            </a:r>
          </a:p>
          <a:p>
            <a:pPr>
              <a:spcAft>
                <a:spcPts val="600"/>
              </a:spcAft>
            </a:pPr>
            <a:r>
              <a:rPr lang="ru-RU" sz="1300" dirty="0">
                <a:solidFill>
                  <a:schemeClr val="tx1"/>
                </a:solidFill>
              </a:rPr>
              <a:t>Каналы: сообщество и соревнования ФСП, вузы, IT-компании — партнёры ФСП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C1D22"/>
                </a:solidFill>
              </a:rPr>
              <a:t>Реестр ФСП. </a:t>
            </a:r>
            <a:r>
              <a:rPr sz="1500">
                <a:solidFill>
                  <a:srgbClr val="1C1D22"/>
                </a:solidFill>
              </a:rPr>
              <a:t>Реальная интеграция: сервисный токен, вебхук, ночная синхронизация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C1D22"/>
                </a:solidFill>
              </a:rPr>
              <a:t>Банк 120+ шаблонов </a:t>
            </a:r>
            <a:r>
              <a:rPr sz="1500">
                <a:solidFill>
                  <a:srgbClr val="1C1D22"/>
                </a:solidFill>
              </a:rPr>
              <a:t>на направление — тест короче и стабильнее, включаем контроль показов задач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C1D22"/>
                </a:solidFill>
              </a:rPr>
              <a:t>Калибровка на живых ответах: </a:t>
            </a:r>
            <a:r>
              <a:rPr sz="1500">
                <a:solidFill>
                  <a:srgbClr val="1C1D22"/>
                </a:solidFill>
              </a:rPr>
              <a:t>сложность задач и пороги грейдов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C1D22"/>
                </a:solidFill>
              </a:rPr>
              <a:t>ATS работодателей: </a:t>
            </a:r>
            <a:r>
              <a:rPr sz="1500">
                <a:solidFill>
                  <a:srgbClr val="1C1D22"/>
                </a:solidFill>
              </a:rPr>
              <a:t>исходящие вебхуки и API-токен компании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C1D22"/>
                </a:solidFill>
              </a:rPr>
              <a:t>Антифрод: </a:t>
            </a:r>
            <a:r>
              <a:rPr sz="1500">
                <a:solidFill>
                  <a:srgbClr val="1C1D22"/>
                </a:solidFill>
              </a:rPr>
              <a:t>подтверждение домена и ИНН, ограничения для новых компаний, скоринг надёжности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C1D22"/>
                </a:solidFill>
              </a:rPr>
              <a:t>Пилот </a:t>
            </a:r>
            <a:r>
              <a:rPr sz="1500">
                <a:solidFill>
                  <a:srgbClr val="1C1D22"/>
                </a:solidFill>
              </a:rPr>
              <a:t>с компаниями — партнёрами ФСП, замер конверсии «приглашение → принятие»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>
                <a:solidFill>
                  <a:srgbClr val="520978"/>
                </a:solidFill>
              </a:rPr>
              <a:t>РАЗВИТИЕ ПОСЛЕ ХАКАТОНА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t>ПОПРОБУЙТЕ САМИ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6002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b="1" sz="1500">
                <a:solidFill>
                  <a:srgbClr val="520978"/>
                </a:solidFill>
              </a:rPr>
              <a:t>Стенд</a:t>
            </a:r>
          </a:p>
          <a:p>
            <a:pPr marL="0" indent="0">
              <a:spcAft>
                <a:spcPts val="400"/>
              </a:spcAft>
              <a:buNone/>
            </a:pPr>
            <a:r>
              <a:rPr b="1" sz="2000">
                <a:solidFill>
                  <a:srgbClr val="FF0053"/>
                </a:solidFill>
                <a:hlinkClick r:id="rId3"/>
              </a:rPr>
              <a:t>https://159-194-200-243.sslip.io</a:t>
            </a: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Swagger: </a:t>
            </a:r>
            <a:r>
              <a:rPr sz="1300">
                <a:solidFill>
                  <a:srgbClr val="1C1D22"/>
                </a:solidFill>
                <a:hlinkClick r:id="rId4"/>
              </a:rPr>
              <a:t>https://159-194-200-243.sslip.io/api/docs</a:t>
            </a:r>
          </a:p>
          <a:p>
            <a:pPr marL="0" indent="0">
              <a:spcAft>
                <a:spcPts val="400"/>
              </a:spcAft>
              <a:buNone/>
            </a:pPr>
            <a:r>
              <a:rPr b="1" sz="1500">
                <a:solidFill>
                  <a:srgbClr val="520978"/>
                </a:solidFill>
              </a:rPr>
              <a:t>Репозиторий</a:t>
            </a:r>
          </a:p>
          <a:p>
            <a:pPr marL="0" indent="0">
              <a:spcAft>
                <a:spcPts val="400"/>
              </a:spcAft>
              <a:buNone/>
            </a:pPr>
            <a:r>
              <a:rPr b="1" sz="1600">
                <a:solidFill>
                  <a:srgbClr val="FF0053"/>
                </a:solidFill>
                <a:hlinkClick r:id="rId5"/>
              </a:rPr>
              <a:t>https://github.com/Vadik145-beep/fsp-talent</a:t>
            </a:r>
          </a:p>
          <a:p>
            <a:pPr marL="0" indent="0">
              <a:spcAft>
                <a:spcPts val="400"/>
              </a:spcAft>
              <a:buNone/>
            </a:pPr>
            <a:r>
              <a:rPr b="1" sz="1500">
                <a:solidFill>
                  <a:srgbClr val="520978"/>
                </a:solidFill>
              </a:rPr>
              <a:t>Демо-входы, пароль demo1234</a:t>
            </a: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recruiter@example.com — рекрутер</a:t>
            </a: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candidate@example.com — соискатель с ФСП ID</a:t>
            </a: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candidate.nofsp@example.com — без истории ФСП</a:t>
            </a: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admin@example.com — администратор</a:t>
            </a:r>
          </a:p>
          <a:p>
            <a:pPr marL="0" indent="0">
              <a:spcAft>
                <a:spcPts val="400"/>
              </a:spcAft>
              <a:buNone/>
            </a:pPr>
            <a:r>
              <a:rPr i="1" sz="1300">
                <a:solidFill>
                  <a:srgbClr val="6B6B78"/>
                </a:solidFill>
              </a:rPr>
              <a:t>Контакты команды: [Telegram капитана] · [почта]</a:t>
            </a:r>
          </a:p>
        </p:txBody>
      </p:sp>
      <p:pic>
        <p:nvPicPr>
          <p:cNvPr id="23" name="Picture 22" descr="mobile_result.png"/>
          <p:cNvPicPr>
            <a:picLocks noChangeAspect="1"/>
          </p:cNvPicPr>
          <p:nvPr/>
        </p:nvPicPr>
        <p:blipFill>
          <a:blip r:embed="rId6"/>
          <a:srcRect t="103" b="103"/>
          <a:stretch>
            <a:fillRect/>
          </a:stretch>
        </p:blipFill>
        <p:spPr>
          <a:xfrm>
            <a:off x="9326880" y="1508760"/>
            <a:ext cx="1947672" cy="42062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1120" y="5760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100">
                <a:solidFill>
                  <a:srgbClr val="6B6B78"/>
                </a:solidFill>
              </a:rPr>
              <a:t>Мобильная версия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>
                <a:solidFill>
                  <a:srgbClr val="520978"/>
                </a:solidFill>
              </a:rPr>
              <a:t>ПОДБОРКА С ОБЪЯСНЕНИЕМ</a:t>
            </a:r>
          </a:p>
        </p:txBody>
      </p:sp>
      <p:pic>
        <p:nvPicPr>
          <p:cNvPr id="10" name="Picture 9" descr="need.png"/>
          <p:cNvPicPr>
            <a:picLocks noChangeAspect="1"/>
          </p:cNvPicPr>
          <p:nvPr/>
        </p:nvPicPr>
        <p:blipFill>
          <a:blip r:embed="rId4"/>
          <a:srcRect t="67" b="67"/>
          <a:stretch>
            <a:fillRect/>
          </a:stretch>
        </p:blipFill>
        <p:spPr>
          <a:xfrm>
            <a:off x="6096001" y="0"/>
            <a:ext cx="6096000" cy="6857999"/>
          </a:xfrm>
          <a:prstGeom prst="rect">
            <a:avLst/>
          </a:prstGeom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i="1" sz="1200">
                <a:solidFill>
                  <a:srgbClr val="6B6B78"/>
                </a:solidFill>
              </a:rPr>
              <a:t>Экран стенда: потребность «Middle Python-разработчик в платёжный шлюз»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C1D22"/>
                </a:solidFill>
              </a:rPr>
              <a:t>Подборка строится по категориям из теста, а не по тексту резюме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C1D22"/>
                </a:solidFill>
              </a:rPr>
              <a:t>Соседние категории с числом кандидатов — расширить поиск в один клик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C1D22"/>
                </a:solidFill>
              </a:rPr>
              <a:t>Счёт 0–100 и вклад каждого из 6 факторов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C1D22"/>
                </a:solidFill>
              </a:rPr>
              <a:t>2–4 причины текстом: стек, сила теста, подтверждение ФСП, зарплата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C1D22"/>
                </a:solidFill>
              </a:rPr>
              <a:t>Фильтры по стеку, ФСП, формату и городу не теряют подборку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C1D22"/>
                </a:solidFill>
              </a:rPr>
              <a:t>До согласия — «Кандидат #CFAD», без ФИО и контактов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912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</a:pPr>
            <a:r>
              <a:rPr b="1" sz="1700">
                <a:solidFill>
                  <a:srgbClr val="520978"/>
                </a:solidFill>
              </a:rPr>
              <a:t>Шаблон, а не текст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</a:pPr>
            <a:r>
              <a:rPr sz="1400">
                <a:solidFill>
                  <a:srgbClr val="1C1D22"/>
                </a:solidFill>
              </a:rPr>
              <a:t>192 шаблона: 6 направлений × 32. Каждый даёт от 50 вариантов — свои числа, код и порядок ответов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</a:pPr>
            <a:r>
              <a:rPr b="1" sz="1700">
                <a:solidFill>
                  <a:srgbClr val="520978"/>
                </a:solidFill>
              </a:rPr>
              <a:t>Сложность измерена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</a:pPr>
            <a:r>
              <a:rPr sz="1400">
                <a:solidFill>
                  <a:srgbClr val="1C1D22"/>
                </a:solidFill>
              </a:rPr>
              <a:t>Модель IRT (2PL): у шаблона сложность b и различающая сила a. Старт — от эксперта, потом пересчёт по ответам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</a:pPr>
            <a:r>
              <a:rPr b="1" sz="1700">
                <a:solidFill>
                  <a:srgbClr val="520978"/>
                </a:solidFill>
              </a:rPr>
              <a:t>Тест адаптивный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</a:pPr>
            <a:r>
              <a:rPr sz="1400">
                <a:solidFill>
                  <a:srgbClr val="1C1D22"/>
                </a:solidFill>
              </a:rPr>
              <a:t>Следующая задача — под текущую оценку уровня. 6–20 задач, остановка по точности оценки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</a:pPr>
            <a:r>
              <a:rPr b="1" sz="1700">
                <a:solidFill>
                  <a:srgbClr val="520978"/>
                </a:solidFill>
              </a:rPr>
              <a:t>Честный грейд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</a:pPr>
            <a:r>
              <a:rPr sz="1400">
                <a:solidFill>
                  <a:srgbClr val="1C1D22"/>
                </a:solidFill>
              </a:rPr>
              <a:t>Грейд по порогам уровня. Принудительно не понижаем. Смена — не чаще раза в 90 дней, повтор — через 30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МЕХАНИКА ТЕСТА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buNone/>
            </a:pPr>
            <a:r>
              <a:rPr b="1" sz="1800">
                <a:solidFill>
                  <a:srgbClr val="520978"/>
                </a:solidFill>
              </a:rPr>
              <a:t>Кто платит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</a:pPr>
            <a:r>
              <a:rPr sz="1400">
                <a:solidFill>
                  <a:srgbClr val="1C1D22"/>
                </a:solidFill>
              </a:rPr>
              <a:t>Работодатель: доступ к банку кандидатов и пакеты приглашений. Кандидату — бесплатно. Модель — гипотеза, проверяем на пилоте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buNone/>
            </a:pPr>
            <a:r>
              <a:rPr b="1" sz="1800">
                <a:solidFill>
                  <a:srgbClr val="520978"/>
                </a:solidFill>
              </a:rPr>
              <a:t>Ценность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</a:pPr>
            <a:r>
              <a:rPr sz="1400">
                <a:solidFill>
                  <a:srgbClr val="1C1D22"/>
                </a:solidFill>
              </a:rPr>
              <a:t>Работодатель экономит время техспециалистов на отсеве. Кандидат получает предложения с зарплатой без рассылки резюме. ФСП — карьерный трек для участников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buNone/>
            </a:pPr>
            <a:r>
              <a:rPr b="1" sz="1800">
                <a:solidFill>
                  <a:srgbClr val="520978"/>
                </a:solidFill>
              </a:rPr>
              <a:t>Каналы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</a:pPr>
            <a:r>
              <a:rPr sz="1400">
                <a:solidFill>
                  <a:srgbClr val="1C1D22"/>
                </a:solidFill>
              </a:rPr>
              <a:t>Сообщество и соревнования ФСП, вход через ФСП ID. Вузы и IT-кружки. IT-компании — партнёры и спонсоры соревнований ФСП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52532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0624"/>
            <a:ext cx="11331221" cy="374904"/>
          </a:xfrm>
        </p:spPr>
        <p:txBody>
          <a:bodyPr/>
          <a:lstStyle/>
          <a:p>
            <a:r>
              <a:t>БИЗНЕС-МОДЕЛЬ И МАРКЕТИНГ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544068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Вход через ФСП ID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Keycloak, OpenID Connect + PKCE; номер участника — в поле fsp_id токена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Реестр достижений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Дисциплина, уровень, место и размер зачёта, дата, роль в команде, протокол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ФСП-скор и бейджи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Свежие и высокие результаты весят больше; скор — 15% счёта в подборке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Без истории — не минус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Тест и категория не зависят от ФСП; работодатель видит «Нет данных ФСП»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Минимум данных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Не берём дату рождения, документы и контакты — только нужное для подбора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Работает без ФСП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API реестра пока нет — подняли свой мок по нашему контракту; при сбое — кэш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ФСП ID И РЕЕСТР ДОСТИЖЕНИЙ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rgbClr val="FF0053"/>
                </a:solidFill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544068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5440680" cy="376138"/>
          </a:xfrm>
        </p:spPr>
        <p:txBody>
          <a:bodyPr/>
          <a:lstStyle/>
          <a:p>
            <a:r>
              <a:t>АРХИТЕКТУРА И БЕЗОПАСНОСТЬ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188720"/>
            <a:ext cx="667512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b="1" sz="1300">
                <a:solidFill>
                  <a:srgbClr val="1C1D22"/>
                </a:solidFill>
              </a:rPr>
              <a:t>Браузер: соискатель · рекрутер · админ</a:t>
            </a:r>
          </a:p>
          <a:p>
            <a:pPr marL="0" indent="0" algn="ctr">
              <a:buNone/>
            </a:pPr>
            <a:r>
              <a:rPr b="0" sz="1100">
                <a:solidFill>
                  <a:srgbClr val="1C1D22"/>
                </a:solidFill>
              </a:rPr>
              <a:t>адаптивная вёрстка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11680"/>
            <a:ext cx="6675120" cy="50292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b="1" sz="1300">
                <a:solidFill>
                  <a:srgbClr val="1C1D22"/>
                </a:solidFill>
              </a:rPr>
              <a:t>Caddy 2 — HTTPS, статика React SPA, прокси /api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2880360"/>
            <a:ext cx="2834640" cy="1325880"/>
          </a:xfrm>
          <a:prstGeom prst="roundRect">
            <a:avLst>
              <a:gd name="adj" fmla="val 18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b="1" sz="1500">
                <a:solidFill>
                  <a:srgbClr val="FFFFFF"/>
                </a:solidFill>
              </a:rPr>
              <a:t>backend · FastAPI</a:t>
            </a:r>
          </a:p>
          <a:p>
            <a:pPr marL="0" indent="0" algn="ctr">
              <a:buNone/>
            </a:pPr>
            <a:r>
              <a:rPr b="0" sz="1300">
                <a:solidFill>
                  <a:srgbClr val="FFFFFF"/>
                </a:solidFill>
              </a:rPr>
              <a:t>Python 3.12 · модули: auth, testing, matching, invitations, fsp, nlp, admin, 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80360"/>
            <a:ext cx="1691640" cy="594360"/>
          </a:xfrm>
          <a:prstGeom prst="roundRect">
            <a:avLst>
              <a:gd name="adj" fmla="val 1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b="1" sz="1200">
                <a:solidFill>
                  <a:srgbClr val="FFFFFF"/>
                </a:solidFill>
              </a:rPr>
              <a:t>Keycloak 25</a:t>
            </a:r>
          </a:p>
          <a:p>
            <a:pPr marL="0" indent="0" algn="ctr">
              <a:buNone/>
            </a:pPr>
            <a:r>
              <a:rPr b="0" sz="1000">
                <a:solidFill>
                  <a:srgbClr val="FFFFFF"/>
                </a:solidFill>
              </a:rPr>
              <a:t>ФСП ID, OIDC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11880"/>
            <a:ext cx="1691640" cy="594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b="1" sz="1200">
                <a:solidFill>
                  <a:srgbClr val="1C1D22"/>
                </a:solidFill>
              </a:rPr>
              <a:t>Mailpit</a:t>
            </a:r>
          </a:p>
          <a:p>
            <a:pPr marL="0" indent="0" algn="ctr">
              <a:buNone/>
            </a:pPr>
            <a:r>
              <a:rPr b="0" sz="1000">
                <a:solidFill>
                  <a:srgbClr val="1C1D22"/>
                </a:solidFill>
              </a:rPr>
              <a:t>письма, SMTP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2880360"/>
            <a:ext cx="1691640" cy="594360"/>
          </a:xfrm>
          <a:prstGeom prst="roundRect">
            <a:avLst>
              <a:gd name="adj" fmla="val 1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b="1" sz="1200">
                <a:solidFill>
                  <a:srgbClr val="FFFFFF"/>
                </a:solidFill>
              </a:rPr>
              <a:t>Реестр ФСП (мок)</a:t>
            </a:r>
          </a:p>
          <a:p>
            <a:pPr marL="0" indent="0" algn="ctr">
              <a:buNone/>
            </a:pPr>
            <a:r>
              <a:rPr b="0" sz="1000">
                <a:solidFill>
                  <a:srgbClr val="FFFFFF"/>
                </a:solidFill>
              </a:rPr>
              <a:t>API + вебхук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3611880"/>
            <a:ext cx="1691640" cy="594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6B6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b="1" sz="1200">
                <a:solidFill>
                  <a:srgbClr val="6B6B78"/>
                </a:solidFill>
              </a:rPr>
              <a:t>LLM API</a:t>
            </a:r>
          </a:p>
          <a:p>
            <a:pPr marL="0" indent="0" algn="ctr">
              <a:buNone/>
            </a:pPr>
            <a:r>
              <a:rPr b="0" sz="1000">
                <a:solidFill>
                  <a:srgbClr val="6B6B78"/>
                </a:solidFill>
              </a:rPr>
              <a:t>необязательно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4572000"/>
            <a:ext cx="2834640" cy="548640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 marL="0" indent="0">
              <a:buNone/>
            </a:pPr>
            <a:r>
              <a:rPr b="1" sz="1300">
                <a:solidFill>
                  <a:srgbClr val="FFFFFF"/>
                </a:solidFill>
              </a:rPr>
              <a:t>PostgreSQL 16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49040" y="1691640"/>
            <a:ext cx="0" cy="320040"/>
          </a:xfrm>
          <a:prstGeom prst="line">
            <a:avLst/>
          </a:prstGeom>
          <a:ln w="19050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49040" y="2514600"/>
            <a:ext cx="0" cy="365760"/>
          </a:xfrm>
          <a:prstGeom prst="line">
            <a:avLst/>
          </a:prstGeom>
          <a:ln w="19050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49040" y="4206240"/>
            <a:ext cx="0" cy="365760"/>
          </a:xfrm>
          <a:prstGeom prst="line">
            <a:avLst/>
          </a:prstGeom>
          <a:ln w="19050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103120" y="3177540"/>
            <a:ext cx="228600" cy="0"/>
          </a:xfrm>
          <a:prstGeom prst="line">
            <a:avLst/>
          </a:prstGeom>
          <a:ln w="19050">
            <a:solidFill>
              <a:srgbClr val="52097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103120" y="3909060"/>
            <a:ext cx="228600" cy="0"/>
          </a:xfrm>
          <a:prstGeom prst="line">
            <a:avLst/>
          </a:prstGeom>
          <a:ln w="19050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66360" y="3177540"/>
            <a:ext cx="228600" cy="0"/>
          </a:xfrm>
          <a:prstGeom prst="line">
            <a:avLst/>
          </a:prstGeom>
          <a:ln w="19050">
            <a:solidFill>
              <a:srgbClr val="52097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66360" y="3909060"/>
            <a:ext cx="228600" cy="0"/>
          </a:xfrm>
          <a:prstGeom prst="line">
            <a:avLst/>
          </a:prstGeom>
          <a:ln w="19050">
            <a:solidFill>
              <a:srgbClr val="6B6B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53035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6B6B78"/>
                </a:solidFill>
              </a:rPr>
              <a:t>Docker Compose · OpenAPI · бэкенд без состояния, масштабируется копиями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>
                <a:solidFill>
                  <a:srgbClr val="6B6B78"/>
                </a:solidFill>
              </a:rPr>
              <a:t>Стенд: 2 vCPU / 4 ГБ, лимит контейнеров ≈ 2,4 ГБ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1188720"/>
            <a:ext cx="443484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32588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b="1" sz="1700">
                <a:solidFill>
                  <a:srgbClr val="520978"/>
                </a:solidFill>
              </a:rPr>
              <a:t>Безопасность и 152-ФЗ</a:t>
            </a:r>
          </a:p>
          <a:p>
            <a:pPr marL="0" indent="0">
              <a:spcAft>
                <a:spcPts val="900"/>
              </a:spcAft>
              <a:buNone/>
            </a:pPr>
            <a:r>
              <a:rPr sz="1400">
                <a:solidFill>
                  <a:srgbClr val="1C1D22"/>
                </a:solidFill>
              </a:rPr>
              <a:t>•  Согласие на обработку ПДн и отдельное — на публикацию профиля</a:t>
            </a:r>
          </a:p>
          <a:p>
            <a:pPr marL="0" indent="0">
              <a:spcAft>
                <a:spcPts val="900"/>
              </a:spcAft>
              <a:buNone/>
            </a:pPr>
            <a:r>
              <a:rPr sz="1400">
                <a:solidFill>
                  <a:srgbClr val="1C1D22"/>
                </a:solidFill>
              </a:rPr>
              <a:t>•  До принятия приглашения профиль обезличен</a:t>
            </a:r>
          </a:p>
          <a:p>
            <a:pPr marL="0" indent="0">
              <a:spcAft>
                <a:spcPts val="900"/>
              </a:spcAft>
              <a:buNone/>
            </a:pPr>
            <a:r>
              <a:rPr sz="1400">
                <a:solidFill>
                  <a:srgbClr val="1C1D22"/>
                </a:solidFill>
              </a:rPr>
              <a:t>•  Пароли — scrypt с солью; JWT 15 минут, refresh в httpOnly cookie с ротацией</a:t>
            </a:r>
          </a:p>
          <a:p>
            <a:pPr marL="0" indent="0">
              <a:spcAft>
                <a:spcPts val="900"/>
              </a:spcAft>
              <a:buNone/>
            </a:pPr>
            <a:r>
              <a:rPr sz="1400">
                <a:solidFill>
                  <a:srgbClr val="1C1D22"/>
                </a:solidFill>
              </a:rPr>
              <a:t>•  Права по ролям проверяются на бэкенде в каждом методе</a:t>
            </a:r>
          </a:p>
          <a:p>
            <a:pPr marL="0" indent="0">
              <a:spcAft>
                <a:spcPts val="900"/>
              </a:spcAft>
              <a:buNone/>
            </a:pPr>
            <a:r>
              <a:rPr sz="1400">
                <a:solidFill>
                  <a:srgbClr val="1C1D22"/>
                </a:solidFill>
              </a:rPr>
              <a:t>•  Журнал: раскрытие контактов, смена грейда, блокировки</a:t>
            </a:r>
          </a:p>
          <a:p>
            <a:pPr marL="0" indent="0">
              <a:spcAft>
                <a:spcPts val="900"/>
              </a:spcAft>
              <a:buNone/>
            </a:pPr>
            <a:r>
              <a:rPr sz="1400">
                <a:solidFill>
                  <a:srgbClr val="1C1D22"/>
                </a:solidFill>
              </a:rPr>
              <a:t>•  Ключ ответа, id шаблона и seed не покидают сервер</a:t>
            </a:r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753611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 marL="0" indent="0">
              <a:spcAft>
                <a:spcPts val="1200"/>
              </a:spcAft>
              <a:buNone/>
            </a:pPr>
            <a:r>
              <a:rPr b="1" sz="2400">
                <a:solidFill>
                  <a:srgbClr val="520978"/>
                </a:solidFill>
              </a:rPr>
              <a:t>Работодатель приходит сам</a:t>
            </a:r>
            <a:endParaRPr lang="ru-RU" sz="3600" b="1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  <a:buNone/>
            </a:pPr>
            <a:r>
              <a:rPr sz="1500">
                <a:solidFill>
                  <a:srgbClr val="1C1D22"/>
                </a:solidFill>
              </a:rPr>
              <a:t>Не ждёт откликов, а выбирает из категорий, подтверждённых тестом и ФСП.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sz="1500">
                <a:solidFill>
                  <a:srgbClr val="1C1D22"/>
                </a:solidFill>
              </a:rPr>
              <a:t>Сразу называет зарплату — кандидат видит условия до разговора.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sz="1500">
                <a:solidFill>
                  <a:srgbClr val="1C1D22"/>
                </a:solidFill>
              </a:rPr>
              <a:t>Контакты кандидата открываются только после его согласия.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b="1" sz="1600">
                <a:solidFill>
                  <a:srgbClr val="FF0053"/>
                </a:solidFill>
              </a:rPr>
              <a:t>1   </a:t>
            </a:r>
            <a:r>
              <a:rPr sz="1300">
                <a:solidFill>
                  <a:srgbClr val="1C1D22"/>
                </a:solidFill>
              </a:rPr>
              <a:t>Описывает потребность формой или фразой: «нужен сеньор на Go, удалёнка, 300–400к»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b="1" sz="1600">
                <a:solidFill>
                  <a:srgbClr val="FF0053"/>
                </a:solidFill>
              </a:rPr>
              <a:t>2   </a:t>
            </a:r>
            <a:r>
              <a:rPr sz="1300">
                <a:solidFill>
                  <a:srgbClr val="1C1D22"/>
                </a:solidFill>
              </a:rPr>
              <a:t>Видит рекомендованные категории: основная, грейд ±1, смежные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b="1" sz="1600">
                <a:solidFill>
                  <a:srgbClr val="FF0053"/>
                </a:solidFill>
              </a:rPr>
              <a:t>3   </a:t>
            </a:r>
            <a:r>
              <a:rPr sz="1300">
                <a:solidFill>
                  <a:srgbClr val="1C1D22"/>
                </a:solidFill>
              </a:rPr>
              <a:t>Получает подборку: счёт и причины «почему в подборке»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b="1" sz="1600">
                <a:solidFill>
                  <a:srgbClr val="FF0053"/>
                </a:solidFill>
              </a:rPr>
              <a:t>4   </a:t>
            </a:r>
            <a:r>
              <a:rPr sz="1300">
                <a:solidFill>
                  <a:srgbClr val="1C1D22"/>
                </a:solidFill>
              </a:rPr>
              <a:t>Приглашает с вилкой «от–до»; квота — 20 активных приглашений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b="1" sz="1600">
                <a:solidFill>
                  <a:srgbClr val="FF0053"/>
                </a:solidFill>
              </a:rPr>
              <a:t>5   </a:t>
            </a:r>
            <a:r>
              <a:rPr sz="1300">
                <a:solidFill>
                  <a:srgbClr val="1C1D22"/>
                </a:solidFill>
              </a:rPr>
              <a:t>Кандидат принял → обе стороны видят контакты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ПУТЬ РАБОТОДАТЕЛЯ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Тест восстанавливает уровень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Корреляция с истинным уровнем 0,945; грейд точно — 78,4%, промах больше чем на грейд — 0%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Стабильность при повторе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То же решение по заявленному грейду — 86,4%; тот же грейд — 67,9% (73,6% при тесте до 20 задач)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Разбор текстов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PDF-резюме: поля верны на 5 из 5 образцов; потребности — 12 из 12; вакансии → темы — 25 из 25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r>
              <a:t>ВАЛИДАЦИЯ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Синтетика с известной правдой. Цифры подбора — предварительные (прогон 07.10)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412851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700">
                <a:solidFill>
                  <a:srgbClr val="520978"/>
                </a:solidFill>
              </a:rPr>
              <a:t>Свой вариант каждому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Слитый ответ подходит к чужому варианту лишь случайно: завышение у читеров 85% → 14% при фоне 10%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700">
                <a:solidFill>
                  <a:srgbClr val="520978"/>
                </a:solidFill>
              </a:rPr>
              <a:t>Детектор утечек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Ловит задачи «слишком верно и слишком быстро»: точность 100%, полнота 94%. Флаг — у админа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ТЕСТ НЕЛЬЗЯ «СЛИТЬ»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7044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100">
                <a:solidFill>
                  <a:srgbClr val="6B6B78"/>
                </a:solidFill>
              </a:rPr>
              <a:t>Симуляция: 1000 кандидатов, слито 20% банка, 10% «читеров», seed 20261011</a:t>
            </a:r>
          </a:p>
        </p:txBody>
      </p:sp>
      <p:pic>
        <p:nvPicPr>
          <p:cNvPr id="17" name="Picture 16" descr="item_varia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206240"/>
            <a:ext cx="5120640" cy="15361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7416" y="5870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100">
                <a:solidFill>
                  <a:srgbClr val="6B6B78"/>
                </a:solidFill>
              </a:rPr>
              <a:t>Банк задач на стенде: один шаблон — три кандидата — три варианта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5661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23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Счёт = Σ фактор × вес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Категория уже задаёт направление и грейд, внутри неё главное — стек и сила теста. Веса меняет админ без релиза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Объяснимость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У каждого кандидата разбивка по факторам и 2–4 причины текстом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Нет истории ФСП — нет штрафа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Фактор ФСП = 0, остальные считаются как обычно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Приглашение — ценный ресурс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Квота 20 активных; вилку ниже ожиданий кандидата не отправить; отказ — с причиной</a:t>
            </a:r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31B756F-C29B-4275-9301-AD86FC9C7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877612"/>
              </p:ext>
            </p:extLst>
          </p:nvPr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МЕХАНИКА ПОДБОРА</a:t>
            </a:r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3159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b="1" sz="1800">
                <a:solidFill>
                  <a:srgbClr val="520978"/>
                </a:solidFill>
              </a:rPr>
              <a:t>Проблема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</a:pPr>
            <a:r>
              <a:rPr sz="1400">
                <a:solidFill>
                  <a:srgbClr val="1C1D22"/>
                </a:solidFill>
              </a:rPr>
              <a:t>Работодатель разбирает сотни нерелевантных откликов, кандидат откликается вслепую. Резюме не подтверждает навыки — отбор сводится к ключевым словам.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b="1" sz="1800">
                <a:solidFill>
                  <a:srgbClr val="520978"/>
                </a:solidFill>
              </a:rPr>
              <a:t>Что есть сейчас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</a:pPr>
            <a:r>
              <a:rPr sz="1400">
                <a:solidFill>
                  <a:srgbClr val="1C1D22"/>
                </a:solidFill>
              </a:rPr>
              <a:t>Сайты вакансий: отклики и фильтр по словам. Единый тест быстро «сливается». Задания от нейросети несопоставимы по сложности.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b="1" sz="1800">
                <a:solidFill>
                  <a:srgbClr val="520978"/>
                </a:solidFill>
              </a:rPr>
              <a:t>Наше решение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</a:pPr>
            <a:r>
              <a:rPr sz="1400">
                <a:solidFill>
                  <a:srgbClr val="1C1D22"/>
                </a:solidFill>
              </a:rPr>
              <a:t>Работодатель приходит сам: категория из теста → подборка с объяснением → приглашение с вилкой. Контакты — после согласия кандидата.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ПРОБЛЕМА И НАШ ОТВЕТ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37870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Регистрация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Почта с подтверждением и согласие на обработку ПДн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Опрос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8 вопросов → рекомендуемые специализация, грейд и темы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Категория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«Backend · Middle» в выдаче работодателям, приглашения с вилкой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Профиль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Форма или PDF-резюме с автораспознаванием; ФСП ID — по желанию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b="1" sz="1600">
                <a:solidFill>
                  <a:srgbClr val="520978"/>
                </a:solidFill>
              </a:rPr>
              <a:t>Адаптивный тест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300">
                <a:solidFill>
                  <a:srgbClr val="1C1D22"/>
                </a:solidFill>
              </a:rPr>
              <a:t>6–20 задач под текущий уровень, у каждого свой вариант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ПУТЬ СОИСКАТЕЛЯ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431596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pic>
        <p:nvPicPr>
          <p:cNvPr id="13" name="Picture 12" descr="invite_modal.png"/>
          <p:cNvPicPr>
            <a:picLocks noChangeAspect="1"/>
          </p:cNvPicPr>
          <p:nvPr/>
        </p:nvPicPr>
        <p:blipFill>
          <a:blip r:embed="rId4"/>
          <a:srcRect t="155" b="155"/>
          <a:stretch>
            <a:fillRect/>
          </a:stretch>
        </p:blipFill>
        <p:spPr>
          <a:xfrm>
            <a:off x="4068417" y="1187395"/>
            <a:ext cx="3988905" cy="3000292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b="1" sz="1600">
                <a:solidFill>
                  <a:srgbClr val="520978"/>
                </a:solidFill>
              </a:rPr>
              <a:t>Вилка «от–до» обязательна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Ниже ожиданий кандидата отправить нельзя, а сумма ожиданий при этом не раскрывается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b="1" sz="1600">
                <a:solidFill>
                  <a:srgbClr val="520978"/>
                </a:solidFill>
              </a:rPr>
              <a:t>Рыночная подсказка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«Обычно принимают от …» и вероятность принятия с введённой вилкой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b="1" sz="1600">
                <a:solidFill>
                  <a:srgbClr val="520978"/>
                </a:solidFill>
              </a:rPr>
              <a:t>Контакты — после «да»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Кандидат принял → обе стороны видят контакты, событие в журнале. Срок ответа — 7 дней</a:t>
            </a: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ПРИГЛАШЕНИЕ С ВИЛКОЙ</a:t>
            </a:r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753611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8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   159-194-200-243.sslip.io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8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   159-194-200-243.sslip.io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b="1" sz="1600">
                <a:solidFill>
                  <a:srgbClr val="520978"/>
                </a:solidFill>
              </a:rPr>
              <a:t>Результат теста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Категория, уровень с интервалом, сильные и слабые темы. Правильные ответы не показываем — банк не утекает.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b="1" sz="1600">
                <a:solidFill>
                  <a:srgbClr val="520978"/>
                </a:solidFill>
              </a:rPr>
              <a:t>Приглашения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300">
                <a:solidFill>
                  <a:srgbClr val="1C1D22"/>
                </a:solidFill>
              </a:rPr>
              <a:t>Компания и вилка «от–до» видны сразу. Принять — откроются контакты, отклонить — с причиной.</a:t>
            </a:r>
          </a:p>
        </p:txBody>
      </p:sp>
      <p:pic>
        <p:nvPicPr>
          <p:cNvPr id="56" name="Picture 55" descr="cand_result.png"/>
          <p:cNvPicPr>
            <a:picLocks noChangeAspect="1"/>
          </p:cNvPicPr>
          <p:nvPr/>
        </p:nvPicPr>
        <p:blipFill>
          <a:blip r:embed="rId3"/>
          <a:srcRect t="123" b="123"/>
          <a:stretch>
            <a:fillRect/>
          </a:stretch>
        </p:blipFill>
        <p:spPr>
          <a:xfrm>
            <a:off x="1210642" y="1577998"/>
            <a:ext cx="4121688" cy="2283975"/>
          </a:xfrm>
          <a:prstGeom prst="rect">
            <a:avLst/>
          </a:prstGeom>
        </p:spPr>
      </p:pic>
      <p:pic>
        <p:nvPicPr>
          <p:cNvPr id="57" name="Picture 56" descr="cand_invitations.png"/>
          <p:cNvPicPr>
            <a:picLocks noChangeAspect="1"/>
          </p:cNvPicPr>
          <p:nvPr/>
        </p:nvPicPr>
        <p:blipFill>
          <a:blip r:embed="rId4"/>
          <a:srcRect t="123" b="123"/>
          <a:stretch>
            <a:fillRect/>
          </a:stretch>
        </p:blipFill>
        <p:spPr>
          <a:xfrm>
            <a:off x="6855540" y="1577998"/>
            <a:ext cx="4121688" cy="2283975"/>
          </a:xfrm>
          <a:prstGeom prst="rect">
            <a:avLst/>
          </a:prstGeom>
        </p:spPr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ЭКРАНЫ СОИСКАТЕЛЯ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